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3.svg" ContentType="image/svg+xml"/>
  <Override PartName="/ppt/media/image6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大家好，欢迎来到我们的演示。今天，我们将向大家介绍一个革命性的项目——IP Weave。它是一个基于GLM-5.1的自治AI Agent，旨在解决链上IP资产“Mint即终点”的困境。我们的口号是：给一个链上IP，它还你一个世界。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我们首先来看一个严峻的现状：链上IP资产普遍面临“Mint即终点”的困境。大量NFT项目在发售结束后就失去了活力，其背后巨大的文化和商业价值被白白浪费。我们的愿景，就是通过IP Weave，激活这些沉睡的万亿级资产，让每一个IP都能持续生长。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来说，我们发现了三个核心痛点。第一，内容生产门槛太高，普通用户有心无力。第二，社区创作风格混乱，无法形成合力。第三，缺乏有效的变现路径，打击了创作积极性。这三大痛点共同导致了链上IP的沉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传统的解决方案是组建一个人类团队，但这带来了成本高、周期长、效率低三大弊端。这就形成了一个核心矛盾：高昂的创作成本与社区对内容的海量需求之间的巨大鸿沟。我们需要一个全新的解决方案。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我们的解决方案就是IP Weave，你的AI创作团队。我们的核心理念非常简单：一个人，加上一个Agent，就能等于一个完整的创作团队。用户只需输入一个IP，剩下的所有工作，从分析到创作再到上链，都由Agent自主完成，最终输出一个完整的IP衍生世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IP Weave 的核心功能构成了一个从输入到上链的全链路闭环。它包括了链上数据读取、风格深度分析、故事创作、脚本生成、资产设计、3D建模、质量检查，最后自动准备好上链发布。这是一个完整的、自动化的内容生产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，我们将故事和成果合并展示。我们为Azuki创作了一个全新的世界观，主角Kira为了守护Web3艺术精神而战。基于这个故事，Agent自动生成了一系列成果，包括完整的故事文本、动画脚本、周边资产设计，以及一个3D预览报告。这些都是您提供的正确文件中所包含的内容，充分展示了我们Agent从创意到完整交付的强大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空谈不如实证。我们的项目已经完成了所有核心功能，并成功部署到了Sepolia测试网。大家可以扫描屏幕上的二维码，或者直接访问这个Etherscan链接，查看我们生成的合约和交易记录。我们已经实现了从创意到链上的完整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IP Weave的技术架构分为两层。上层是基于GLM-5.1的Agent决策层，也就是“大脑”，负责思考和指挥。下层是工具执行层，也就是“手”，负责执行具体任务。这种解耦设计让我们的系统非常灵活，易于扩展和维护。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最核心的创新在于采用了ReAct架构。这意味着我们的Agent不是按固定顺序执行任务的机器人，而是一个真正能思考和决策的智能体。它能根据当前状态自主决定下一步行动，甚至能处理失败和异常，这是实现真正自动化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那么，谁会从IP Weave中受益呢？我们的目标用户包括NFT项目方、巨鲸持有者、内容创作者以及Meme社区。随着NFT市场向IP化发展，对自动化内容生产的需求巨大，IP Weave正站在这个风口之上。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我们规划了多元化的商业模式，包括面向专业用户的SaaS订阅，面向普通用户的单次付费服务，面向平台的技术授权，以及创新的链上分润模式。这保证了我们项目的可持续发展和盈利能力。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我们的竞争优势。首先，我们是市场上唯一实现全链路闭环的解决方案。其次，我们带来了巨大的成本优势，让专业级内容创作不再昂贵。最后，我们通过AI确保了衍生内容与原始IP风格的高度统一。这三点让我们具备了强大的竞争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有清晰的产品路线图。第一阶段的基础能力已经完成。接下来，我们将升级用户体验，扩展到更多公链，并接入视频生成等更强大的功能。最终，我们的目标是构建一个完整的创作者经济平台，让AI生成的IP衍生内容能够自由流通和交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总结一下，IP Weave不仅仅是一个工具，它是一个自治的AI创作团队，一个激活沉睡IP的引擎，更是一座通往无限衍生世界的桥梁。我们正在用AI Agent技术，重新定义链上IP的未来，让每一个IP都能绽放光彩。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我的演示到此结束，感谢大家的聆听。现在是问答环节，欢迎大家提问。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3.svg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9.svg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5.svg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svg"/><Relationship Id="rId8" Type="http://schemas.openxmlformats.org/officeDocument/2006/relationships/image" Target="../media/image30.png"/><Relationship Id="rId7" Type="http://schemas.openxmlformats.org/officeDocument/2006/relationships/image" Target="../media/image9.svg"/><Relationship Id="rId6" Type="http://schemas.openxmlformats.org/officeDocument/2006/relationships/image" Target="../media/image8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9" Type="http://schemas.openxmlformats.org/officeDocument/2006/relationships/notesSlide" Target="../notesSlides/notesSlide6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37.svg"/><Relationship Id="rId16" Type="http://schemas.openxmlformats.org/officeDocument/2006/relationships/image" Target="../media/image36.png"/><Relationship Id="rId15" Type="http://schemas.openxmlformats.org/officeDocument/2006/relationships/image" Target="../media/image35.svg"/><Relationship Id="rId14" Type="http://schemas.openxmlformats.org/officeDocument/2006/relationships/image" Target="../media/image34.png"/><Relationship Id="rId13" Type="http://schemas.openxmlformats.org/officeDocument/2006/relationships/image" Target="../media/image33.svg"/><Relationship Id="rId12" Type="http://schemas.openxmlformats.org/officeDocument/2006/relationships/image" Target="../media/image32.png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8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5.jpeg"/><Relationship Id="rId7" Type="http://schemas.openxmlformats.org/officeDocument/2006/relationships/image" Target="../media/image44.svg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7.svg"/><Relationship Id="rId6" Type="http://schemas.openxmlformats.org/officeDocument/2006/relationships/image" Target="../media/image46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svg"/><Relationship Id="rId8" Type="http://schemas.openxmlformats.org/officeDocument/2006/relationships/image" Target="../media/image50.png"/><Relationship Id="rId7" Type="http://schemas.openxmlformats.org/officeDocument/2006/relationships/image" Target="../media/image49.svg"/><Relationship Id="rId6" Type="http://schemas.openxmlformats.org/officeDocument/2006/relationships/image" Target="../media/image48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52.jpe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svg"/><Relationship Id="rId8" Type="http://schemas.openxmlformats.org/officeDocument/2006/relationships/image" Target="../media/image39.png"/><Relationship Id="rId7" Type="http://schemas.openxmlformats.org/officeDocument/2006/relationships/image" Target="../media/image47.svg"/><Relationship Id="rId6" Type="http://schemas.openxmlformats.org/officeDocument/2006/relationships/image" Target="../media/image46.png"/><Relationship Id="rId5" Type="http://schemas.openxmlformats.org/officeDocument/2006/relationships/image" Target="../media/image56.svg"/><Relationship Id="rId4" Type="http://schemas.openxmlformats.org/officeDocument/2006/relationships/image" Target="../media/image55.png"/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1.svg"/><Relationship Id="rId6" Type="http://schemas.openxmlformats.org/officeDocument/2006/relationships/image" Target="../media/image10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4" Type="http://schemas.openxmlformats.org/officeDocument/2006/relationships/notesSlide" Target="../notesSlides/notesSlide15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15.xml"/><Relationship Id="rId21" Type="http://schemas.openxmlformats.org/officeDocument/2006/relationships/tags" Target="../tags/tag14.xml"/><Relationship Id="rId20" Type="http://schemas.openxmlformats.org/officeDocument/2006/relationships/image" Target="../media/image47.svg"/><Relationship Id="rId2" Type="http://schemas.openxmlformats.org/officeDocument/2006/relationships/tags" Target="../tags/tag1.xml"/><Relationship Id="rId19" Type="http://schemas.openxmlformats.org/officeDocument/2006/relationships/image" Target="../media/image46.png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image" Target="../media/image19.svg"/><Relationship Id="rId12" Type="http://schemas.openxmlformats.org/officeDocument/2006/relationships/image" Target="../media/image18.png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5.svg"/><Relationship Id="rId4" Type="http://schemas.openxmlformats.org/officeDocument/2006/relationships/image" Target="../media/image64.png"/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image" Target="../media/image6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8FAFC"/>
                </a:solidFill>
                <a:latin typeface="+mj-lt"/>
                <a:ea typeface="Poppins"/>
                <a:cs typeface="+mj-lt"/>
                <a:sym typeface="Poppins"/>
              </a:rPr>
              <a:t>IP Weave</a:t>
            </a:r>
            <a:endParaRPr lang="en-US" sz="1100">
              <a:latin typeface="+mj-lt"/>
              <a:cs typeface="+mj-lt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016000" cy="508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330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F8FAFC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 GLM-5.1 的自治链上 IP 衍生内容 Agent，重塑数字资产的无限可能。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57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E11D4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“ 给一个链上 IP，它还你一个世界。”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59055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6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AI Web3 Agentic Builders Hackathon | 2026.06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我们的愿景：激活沉睡的万亿级资产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1851" b="1851"/>
          <a:stretch>
            <a:fillRect/>
          </a:stretch>
        </p:blipFill>
        <p:spPr>
          <a:xfrm>
            <a:off x="762000" y="1778000"/>
            <a:ext cx="4572000" cy="3302000"/>
          </a:xfrm>
          <a:prstGeom prst="rect">
            <a:avLst/>
          </a:prstGeom>
          <a:noFill/>
          <a:ln w="25400" cap="flat" cmpd="sng">
            <a:solidFill>
              <a:srgbClr val="E11D48">
                <a:alpha val="6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334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数字艺术与区块链技术的结合，本应创造无限可能。然而现实中，海量优质IP被禁锢在静态文件中，等待被重新赋予生命力。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9889">
            <a:off x="3683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11D4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096000" y="1778000"/>
            <a:ext cx="5588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0960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1968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58000" y="19304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核心困境：Mint 即终点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8594">
            <a:off x="6350008" y="2533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8FAF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350000" y="26670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成千上万的NFT项目在发售结束后缺乏持续运营，陷入沉寂。巨大的文化与商业价值被锁死在链上，无法流动和增值，造成了Web3生态的巨大资源浪费。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96000" y="4191000"/>
            <a:ext cx="5588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0960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E11D4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4381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858000" y="43434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IP Weave：资产激活的“点火器”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8594">
            <a:off x="6350008" y="4946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8FAF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350000" y="50800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我们相信每一个链上IP都拥有无限衍生潜力。IP Weave的使命，就是打破静态资产的枷锁，通过持续的内容共创与价值连接，让每一个数字IP都能生长、流动并实现商业闭环。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三大核心痛点：为何链上IP难以持续？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49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14500" y="2349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内容生产门槛高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429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F8FAFC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NFT持有者和社区成员虽充满热情，却普遍缺乏写作、绘画、编程等专业创作技能，难以独立产出高质量内容。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5080000"/>
            <a:ext cx="2921000" cy="762000"/>
          </a:xfrm>
          <a:prstGeom prst="roundRect">
            <a:avLst>
              <a:gd name="adj" fmla="val 0"/>
            </a:avLst>
          </a:prstGeom>
          <a:solidFill>
            <a:srgbClr val="E11D4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143000" y="5181600"/>
            <a:ext cx="266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结果：想参与而不得，社区活力无法转化为实际的内容生产力，生态发展缺乏内生动力。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2032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815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3495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334000" y="2349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社区创作风格不统一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946">
            <a:off x="46355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635500" y="3429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F8FAFC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用户自发创作的内容质量参差不齐、风格迥异，缺乏统一的规范和引导，无法形成一致的视觉与叙事体系。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35500" y="5080000"/>
            <a:ext cx="2921000" cy="762000"/>
          </a:xfrm>
          <a:prstGeom prst="roundRect">
            <a:avLst>
              <a:gd name="adj" fmla="val 0"/>
            </a:avLst>
          </a:prstGeom>
          <a:solidFill>
            <a:srgbClr val="E11D4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762500" y="5181600"/>
            <a:ext cx="266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结果：稀释了原始IP的独特性和核心价值，无法构建连贯、坚实的IP宇宙，难以沉淀品牌资产。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01000" y="2032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001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349500"/>
            <a:ext cx="508000" cy="508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953500" y="2349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缺乏变现路径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4946">
            <a:off x="82550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255000" y="3429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F8FAFC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即使产出了优质内容，也缺少便捷、标准化的上链工具和多元的变现渠道，创作者难以获得直接的经济回报。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55000" y="5080000"/>
            <a:ext cx="2921000" cy="762000"/>
          </a:xfrm>
          <a:prstGeom prst="roundRect">
            <a:avLst>
              <a:gd name="adj" fmla="val 0"/>
            </a:avLst>
          </a:prstGeom>
          <a:solidFill>
            <a:srgbClr val="E11D4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382000" y="5181600"/>
            <a:ext cx="266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结果：创作动力严重不足，内容价值无法通过链上经济模型实现闭环，生态难以形成正向循环。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传统解决方案的困境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842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9050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F8FAFC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传统模式下，项目方需要组建包含编剧、画师、3D建模师、后端工程师在内的完整人类创作团队，流程高度依赖人工协作，难以适配快速迭代的内容市场。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302000"/>
            <a:ext cx="1854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1854200" cy="508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556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952500" y="4191000"/>
            <a:ext cx="1473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成本高昂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826000"/>
            <a:ext cx="1473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专业人力成本极高，成为中小型项目方和创作者社区难以承受的沉重负担。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768600" y="3302000"/>
            <a:ext cx="1854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2768600" y="3302000"/>
            <a:ext cx="1854200" cy="508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59100" y="3556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2959100" y="4191000"/>
            <a:ext cx="1473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周期漫长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959100" y="4826000"/>
            <a:ext cx="1473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从创意构思到最终交付，流程繁琐且沟通协调复杂，导致项目落地时间被无限拉长。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775200" y="3302000"/>
            <a:ext cx="1854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775200" y="3302000"/>
            <a:ext cx="1854200" cy="508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5700" y="3556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965700" y="4191000"/>
            <a:ext cx="1473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效率低下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965700" y="4826000"/>
            <a:ext cx="1473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团队协作模式僵化，无法快速响应瞬息万变的社区热点和用户的海量内容需求。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5389889">
            <a:off x="4953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7493000" y="2032000"/>
            <a:ext cx="3937000" cy="3302000"/>
          </a:xfrm>
          <a:prstGeom prst="roundRect">
            <a:avLst>
              <a:gd name="adj" fmla="val 0"/>
            </a:avLst>
          </a:prstGeom>
          <a:solidFill>
            <a:srgbClr val="E11D48">
              <a:alpha val="15000"/>
            </a:srgbClr>
          </a:solidFill>
          <a:ln w="12700" cap="flat" cmpd="sng">
            <a:solidFill>
              <a:srgbClr val="E11D48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83500" y="2286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11D4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核心矛盾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2277">
            <a:off x="7683511" y="3041650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7683500" y="33020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高昂的创作成本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83500" y="425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8FAFC">
                    <a:alpha val="5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VS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83500" y="4826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社区对内容的海量需求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我们的解决方案：IP Weave - 你的AI创作团队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E11D4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0160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E11D4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核心理念：</a:t>
            </a:r>
            <a:r>
              <a:rPr lang="en-US" sz="1800" b="0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一人 + 一 Agent = 一个完整的创作团队，将专业创作能力赋予每一个人。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E11D4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556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87500" y="3530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01. 输入 (Input)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946">
            <a:off x="1016014" y="418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8FAF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4445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用户无需具备专业技能，只需提供一个链上 IP 的名称或合约地址，即可启动整个创作流程。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45000" y="3302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E11D4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3556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70500" y="3530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02. Agent 自动执行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946">
            <a:off x="4699014" y="418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8FAF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99000" y="4445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IP Weave 自主完成需求理解、资料收集、风格分析、内容创作、质量检查，并自动处理链上发布的所有技术细节。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3302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E11D4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3556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953500" y="3530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03. 输出 (Output)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382014" y="418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8FAF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82000" y="4445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生成一个包含衍生故事、动画脚本、3D资产和可部署NFT合约的完整 IP 衍生世界，实现资产的数字化与价值化。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969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E11D48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60706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从单一 IP 输入到完整生态输出，AI 让 IP 价值的无限延展触手可及。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核心功能概览：从输入到上链的全链路闭环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415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7780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01. 链上 IP 数据读取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8FAFC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自动抓取并解析链上原生 IP 资产元数据，构建标准化数据底座，确保源头信息真实可信。</a:t>
            </a:r>
            <a:endParaRPr lang="en-US" sz="1300" b="0" i="0" u="none" strike="noStrike">
              <a:solidFill>
                <a:srgbClr val="F8FAFC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1115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30480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02. IP 风格深度分析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8FAFC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利用多模态算法拆解 IP 视觉特征与叙事内核，建立风格特征库，为后续创作提供精准范式。</a:t>
            </a:r>
            <a:endParaRPr lang="en-US" sz="1300" b="0" i="0" u="none" strike="noStrike">
              <a:solidFill>
                <a:srgbClr val="F8FAFC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064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2545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41910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03. 高质量衍生故事创作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8FAFC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 IP 核心设定，AI 自动生成符合世界观的衍生剧情与角色故事，拓展内容叙事边界。</a:t>
            </a:r>
            <a:endParaRPr lang="en-US" sz="1300" b="0" i="0" u="none" strike="noStrike">
              <a:solidFill>
                <a:srgbClr val="F8FAFC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207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3975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651000" y="53340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04. 专业动画分镜脚本生成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8FAFC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将文字故事转化为标准化的分镜脚本与镜头语言，自动标注运镜、时长与画面描述，降低制作门槛。</a:t>
            </a:r>
            <a:endParaRPr lang="en-US" sz="1300" b="0" i="0" u="none" strike="noStrike">
              <a:solidFill>
                <a:srgbClr val="F8FAFC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86500" y="1651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18415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75500" y="17780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05. 周边资产概念设计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8FAFC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结合 IP 视觉风格，自动生成手办、服饰、海报等多元周边的概念设计稿，丰富商业变现形态。</a:t>
            </a:r>
            <a:endParaRPr lang="en-US" sz="1300" b="0" i="0" u="none" strike="noStrike">
              <a:solidFill>
                <a:srgbClr val="F8FAFC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86500" y="2921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31115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75500" y="30480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06. 3D 模型生成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8FAFC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将 2D 概念图一键转化为可渲染的 3D 模型资产，支持细节调整与材质映射，加速工业化生产。</a:t>
            </a:r>
            <a:endParaRPr lang="en-US" sz="1300" b="0" i="0" u="none" strike="noStrike">
              <a:solidFill>
                <a:srgbClr val="F8FAFC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286500" y="4064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0" y="42545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75500" y="41910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07. 风格一致性检查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8FAFC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通过特征比对算法，校验所有衍生内容与原 IP 的风格统一性，确保视觉与叙事逻辑不偏离。</a:t>
            </a:r>
            <a:endParaRPr lang="en-US" sz="1300" b="0" i="0" u="none" strike="noStrike">
              <a:solidFill>
                <a:srgbClr val="F8FAFC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286500" y="5207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77000" y="5397500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175500" y="53340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08. 链上发布准备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8FAFC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自动封装生成的数字资产元数据，生成链上凭证，完成哈希上链与合约部署，实现资产确权。</a:t>
            </a:r>
            <a:endParaRPr lang="en-US" sz="1300" b="0" i="0" u="none" strike="noStrike">
              <a:solidFill>
                <a:srgbClr val="F8FAFC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137353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762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一个故事，一个世界：从创意到链上资产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445195"/>
            <a:ext cx="4572000" cy="3162928"/>
          </a:xfrm>
          <a:prstGeom prst="roundRect">
            <a:avLst>
              <a:gd name="adj" fmla="val 0"/>
            </a:avLst>
          </a:prstGeom>
          <a:blipFill>
            <a:blip r:embed="rId2"/>
            <a:stretch>
              <a:fillRect t="-1830" b="-1830"/>
            </a:stretch>
          </a:blip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588000" y="1524000"/>
            <a:ext cx="6476222" cy="1146321"/>
          </a:xfrm>
          <a:prstGeom prst="roundRect">
            <a:avLst>
              <a:gd name="adj" fmla="val 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475569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HTML报告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一站式预览所有创作内容的交付报告首页。</a:t>
            </a:r>
            <a:endParaRPr lang="en-US" sz="1600" b="0" i="0" u="none" strike="noStrike">
              <a:solidFill>
                <a:srgbClr val="94A3B8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indent="0" algn="ctr">
              <a:lnSpc>
                <a:spcPct val="108000"/>
              </a:lnSpc>
            </a:pPr>
          </a:p>
        </p:txBody>
      </p:sp>
      <p:sp>
        <p:nvSpPr>
          <p:cNvPr id="6" name="AutoShape 6"/>
          <p:cNvSpPr/>
          <p:nvPr/>
        </p:nvSpPr>
        <p:spPr>
          <a:xfrm>
            <a:off x="5588000" y="2749660"/>
            <a:ext cx="6476222" cy="1146321"/>
          </a:xfrm>
          <a:prstGeom prst="roundRect">
            <a:avLst>
              <a:gd name="adj" fmla="val 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475569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衍生故事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关于主角的完整叙事。</a:t>
            </a:r>
            <a:endParaRPr lang="en-US" sz="1600" b="0" i="0" u="none" strike="noStrike">
              <a:solidFill>
                <a:srgbClr val="94A3B8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588000" y="4026659"/>
            <a:ext cx="6476222" cy="1109586"/>
          </a:xfrm>
          <a:prstGeom prst="roundRect">
            <a:avLst>
              <a:gd name="adj" fmla="val 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475569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动画脚本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包含4个核心分镜的专业脚本。</a:t>
            </a:r>
            <a:endParaRPr lang="en-US" sz="1600" b="0" i="0" u="none" strike="noStrike">
              <a:solidFill>
                <a:srgbClr val="94A3B8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588000" y="5252319"/>
            <a:ext cx="6476222" cy="970681"/>
          </a:xfrm>
          <a:prstGeom prst="roundRect">
            <a:avLst>
              <a:gd name="adj" fmla="val 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475569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E2E8F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周边资产设计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“花园巡航者·霓虹机甲滑板”的3D模型周边资产</a:t>
            </a:r>
            <a:endParaRPr lang="en-US" sz="1400" b="0" i="0" u="none" strike="noStrike">
              <a:solidFill>
                <a:srgbClr val="94A3B8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链上证明：我们已经实现了！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76200" cy="10160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609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E11D4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项目核心功能 100% 落地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F8FAFC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我们已完成所有关键模块的开发与测试，成功将智能合约部署至 Sepolia 测试网，实现了从输入 IP 信息到链上生成不可篡改记录的完整闭环，系统运行稳定可靠。</a:t>
            </a:r>
            <a:endParaRPr lang="en-US" sz="1400" b="0" i="0" u="none" strike="noStrike">
              <a:solidFill>
                <a:srgbClr val="F8FAFC">
                  <a:alpha val="85098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6875">
            <a:off x="762006" y="3295650"/>
            <a:ext cx="635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8FAF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3683000"/>
            <a:ext cx="635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937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8100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示例合约地址 (Sepolia Testnet)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F8FAFC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0x428fc6c80773F44220E7bcb9c7b4833C62F0f343</a:t>
            </a:r>
            <a:endParaRPr lang="en-US" sz="1300" b="0" i="0" u="none" strike="noStrike">
              <a:solidFill>
                <a:srgbClr val="F8FAFC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5334000"/>
            <a:ext cx="304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5461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70000" y="5461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查验真实记录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8FAFC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访问 Etherscan 查看完整合约代码与链上交易哈希，公开透明可追溯。</a:t>
            </a:r>
            <a:endParaRPr lang="en-US" sz="1200" b="0" i="0" u="none" strike="noStrike">
              <a:solidFill>
                <a:srgbClr val="F8FAFC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064000" y="5334000"/>
            <a:ext cx="304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91000" y="5461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572000" y="5461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亲自上手体验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8FAFC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运行演示脚本，实操从 IP 输入到合约生成的全流程，验证系统可用性。</a:t>
            </a:r>
            <a:endParaRPr lang="en-US" sz="1200" b="0" i="0" u="none" strike="noStrike">
              <a:solidFill>
                <a:srgbClr val="F8FAFC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5390450">
            <a:off x="5334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8FAFC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rcRect l="3333" r="3333"/>
          <a:stretch>
            <a:fillRect/>
          </a:stretch>
        </p:blipFill>
        <p:spPr>
          <a:xfrm>
            <a:off x="7874000" y="2032000"/>
            <a:ext cx="3556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7874000" y="4445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E11D4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001000" y="4635500"/>
            <a:ext cx="3302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权威区块浏览器验证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8FAFC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复制上方合约地址，或直接访问 Etherscan 链接，即刻查验项目在测试网的真实部署情况与交互记录。</a:t>
            </a:r>
            <a:endParaRPr lang="en-US" sz="1300" b="0" i="0" u="none" strike="noStrike">
              <a:solidFill>
                <a:srgbClr val="F8FAFC">
                  <a:alpha val="80000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技术架构：Agent 决策层 + 工具执行层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30480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032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14500" y="20066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Agent 决策层 (The Brain)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795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500" y="2984500"/>
            <a:ext cx="4635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E11D4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核心引擎：</a:t>
            </a:r>
            <a:r>
              <a:rPr lang="en-US" sz="1500" b="0" i="0" u="none" strike="noStrike">
                <a:solidFill>
                  <a:srgbClr val="F8FAFC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GLM-5.1 大语言模型，作为系统的“大脑”，主导全流程的思考、推理、决策与规划。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600" b="1" i="0" u="none" strike="noStrike">
                <a:solidFill>
                  <a:srgbClr val="E11D4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核心职责：</a:t>
            </a:r>
            <a:r>
              <a:rPr lang="en-US" sz="1500" b="0" i="0" u="none" strike="noStrike">
                <a:solidFill>
                  <a:srgbClr val="F8FAFC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如同创作总导演，把控方向、分配任务，并对执行结果进行质量评估与反馈迭代。</a:t>
            </a:r>
            <a:endParaRPr lang="en-US" sz="1500" b="0" i="0" u="none" strike="noStrike">
              <a:solidFill>
                <a:srgbClr val="F8FAFC">
                  <a:alpha val="9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86500" y="1778000"/>
            <a:ext cx="5270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86500" y="1778000"/>
            <a:ext cx="76200" cy="30480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032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239000" y="20066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工具执行层 (The Hands)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604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04000" y="2984500"/>
            <a:ext cx="4635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E11D4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模块构成：</a:t>
            </a:r>
            <a:r>
              <a:rPr lang="en-US" sz="1500" b="0" i="0" u="none" strike="noStrike">
                <a:solidFill>
                  <a:srgbClr val="F8FAFC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由数据读取、故事创作、3D建模、合约生成等八个独立的模块化工具组成，功能完备。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600" b="1" i="0" u="none" strike="noStrike">
                <a:solidFill>
                  <a:srgbClr val="E11D4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核心职责：</a:t>
            </a:r>
            <a:r>
              <a:rPr lang="en-US" sz="1500" b="0" i="0" u="none" strike="noStrike">
                <a:solidFill>
                  <a:srgbClr val="F8FAFC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精准执行 Agent 下达的具体指令，是系统高效落地、实现创意的坚实“双手”。</a:t>
            </a:r>
            <a:endParaRPr lang="en-US" sz="1500" b="0" i="0" u="none" strike="noStrike">
              <a:solidFill>
                <a:srgbClr val="F8FAFC">
                  <a:alpha val="9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E11D48">
              <a:alpha val="15000"/>
            </a:srgbClr>
          </a:solidFill>
          <a:ln w="12700" cap="flat" cmpd="sng">
            <a:solidFill>
              <a:srgbClr val="E11D4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562600"/>
            <a:ext cx="558800" cy="558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905000" y="5461000"/>
            <a:ext cx="914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架构清晰，解耦性强。</a:t>
            </a:r>
            <a:r>
              <a:rPr lang="en-US" sz="1500" b="0" i="0" u="none" strike="noStrike">
                <a:solidFill>
                  <a:srgbClr val="F8FAFC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系统采用分层解耦设计，可灵活替换或升级任意单个工具模块，完全不影响 Agent 核心决策逻辑，极大提升了系统的扩展性与维护效率。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核心创新：基于 ReAct 架构的自主决策能力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3495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11D4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告别线性工作流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302000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传统 AI 系统依赖预设的线性流程执行任务，逻辑僵化且缺乏灵活性。面对复杂场景中的异常情况、环境变化或未预见的干扰时，无法动态调整步骤，极易导致任务中断或执行失败。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2032000"/>
            <a:ext cx="3403600" cy="3302000"/>
          </a:xfrm>
          <a:prstGeom prst="roundRect">
            <a:avLst>
              <a:gd name="adj" fmla="val 0"/>
            </a:avLst>
          </a:prstGeom>
          <a:solidFill>
            <a:srgbClr val="E11D48">
              <a:alpha val="10000"/>
            </a:srgbClr>
          </a:solidFill>
          <a:ln w="12700" cap="flat" cmpd="sng">
            <a:solidFill>
              <a:srgbClr val="E11D48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394200" y="2032000"/>
            <a:ext cx="3403600" cy="508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48200" y="2349500"/>
            <a:ext cx="2895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11D4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拥抱 ReAct 架构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077">
            <a:off x="4648214" y="3041650"/>
            <a:ext cx="289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48200" y="3238500"/>
            <a:ext cx="2895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思考 (Reason)：</a:t>
            </a:r>
            <a:r>
              <a:rPr lang="en-US" sz="1300" b="0" i="0" u="none" strike="noStrike">
                <a:solidFill>
                  <a:srgbClr val="F8FAFC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GLM-5.1 实时分析任务目标、已完成步骤与工具反馈，构建全局认知。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077">
            <a:off x="4648214" y="4248150"/>
            <a:ext cx="289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11D4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48200" y="4381500"/>
            <a:ext cx="28956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行动 (Act)：</a:t>
            </a:r>
            <a:r>
              <a:rPr lang="en-US" sz="1300" b="0" i="0" u="none" strike="noStrike">
                <a:solidFill>
                  <a:srgbClr val="F8FAFC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自主抉择下一步工具调用与参数配置，形成“思考-行动”的智能闭环。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518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518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305800" y="23495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11D4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真正的自主决策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5211">
            <a:off x="83058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305800" y="3302000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Agent 具备类人的容错与应变能力：面对执行失败自动重试，策略受阻时切换替代方案，甚至在发现初始目标偏差时，主动调整路径以达成最优结果，实现从“执行”到“决策”的质变。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E11D4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5715000"/>
            <a:ext cx="50800" cy="7620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6000" y="584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这不仅是流程的自动化，更是</a:t>
            </a:r>
            <a:r>
              <a:rPr lang="en-US" sz="15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智能体的自主进化</a:t>
            </a:r>
            <a:r>
              <a:rPr lang="en-US" sz="1500" b="0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，让 AI 能够像人一样思考、尝试并解决复杂的未知问题。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目标用户与市场机会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984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41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8034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NFT 项目方 &amp; DAO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6769">
            <a:off x="952515" y="24066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8FAF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603500"/>
            <a:ext cx="260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8FAFC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需要低成本、高效率地丰富 IP 生态，建立可持续的社区激励与资产流转机制。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000500" y="1651000"/>
            <a:ext cx="2984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1000" y="1841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699000" y="18034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链上 IP 巨鲸持有者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6769">
            <a:off x="4191015" y="24066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8FAF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191000" y="2603500"/>
            <a:ext cx="260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8FAFC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手握优质资产，期望通过 IP 衍生与内容二创盘活存量价值，实现资产的多维变现。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937000"/>
            <a:ext cx="2984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127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460500" y="40894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Web3 内容创作者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6769">
            <a:off x="952515" y="46926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8FAF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952500" y="4889500"/>
            <a:ext cx="260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8FAFC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寻求强大的 AI 工具辅助生成创意内容，降低创作门槛，同时确保作品的版权与链上确权。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000500" y="3937000"/>
            <a:ext cx="2984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91000" y="4127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4699000" y="40894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Meme 社区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6769">
            <a:off x="4191015" y="46926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8FAF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4191000" y="4889500"/>
            <a:ext cx="260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8FAFC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希望快速将热门网络梗图与文化符号转化为链上资产，抓住流量红利，形成社区共识。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5390177">
            <a:off x="5016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8FAFC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5" name="Picture 25"/>
          <p:cNvPicPr>
            <a:picLocks noChangeAspect="1"/>
          </p:cNvPicPr>
          <p:nvPr/>
        </p:nvPicPr>
        <p:blipFill>
          <a:blip r:embed="rId10"/>
          <a:srcRect t="11290" b="11290"/>
          <a:stretch>
            <a:fillRect/>
          </a:stretch>
        </p:blipFill>
        <p:spPr>
          <a:xfrm>
            <a:off x="7493000" y="1651000"/>
            <a:ext cx="3937000" cy="2286000"/>
          </a:xfrm>
          <a:prstGeom prst="rect">
            <a:avLst/>
          </a:prstGeom>
          <a:noFill/>
          <a:ln w="25400" cap="flat" cmpd="sng">
            <a:solidFill>
              <a:srgbClr val="E11D48">
                <a:alpha val="50000"/>
              </a:srgbClr>
            </a:solidFill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7493000" y="4191000"/>
            <a:ext cx="3937000" cy="1714500"/>
          </a:xfrm>
          <a:prstGeom prst="roundRect">
            <a:avLst>
              <a:gd name="adj" fmla="val 0"/>
            </a:avLst>
          </a:prstGeom>
          <a:solidFill>
            <a:srgbClr val="E11D48">
              <a:alpha val="10000"/>
            </a:srgbClr>
          </a:solidFill>
          <a:ln w="12700" cap="flat" cmpd="sng">
            <a:solidFill>
              <a:srgbClr val="E11D4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683500" y="4318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11D4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站在市场风口的中心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12277">
            <a:off x="7683511" y="4819650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11D48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7683500" y="4953000"/>
            <a:ext cx="355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8FAFC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随着 NFT 市场从 PFP 向 IP 化、资产化深度演进，对高质量、规模化内容生产的需求呈指数级增长。IP Weave 正是连接内容与价值的核心枢纽。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商业模式：多元化的价值实现路径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" cy="19685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095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SaaS 订阅模式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921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面向专业用户和项目方，提供无限次AI创作、全套高级功能解锁以及7×24小时优先技术支持，构建稳定的经常性收入流。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905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1905000"/>
            <a:ext cx="50800" cy="19685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095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2095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单次创作服务 (Pay-as-you-go)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477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7000" y="2921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面向普通体验用户，采用按次付费、按量计费的灵活模式，降低使用门槛，广泛覆盖长尾市场，满足多样化的个性化创作需求。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50800" cy="19685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3815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51000" y="4381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 Agent 技术授权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291">
            <a:off x="1016009" y="501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16000" y="5143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将自研的智能Agent生成技术模块化授权给大型NFT项目方、元宇宙平台或创作者社区，输出技术能力，获取高额的技术授权与服务费用。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223000" y="4191000"/>
            <a:ext cx="50800" cy="19685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381500"/>
            <a:ext cx="457200" cy="457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12000" y="4381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链上持久分润机制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291">
            <a:off x="6477009" y="501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477000" y="5143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在生成的NFT智能合约中嵌入永久分润条款，从每一次二级市场的交易与转手中自动获取比例收益，构建可持续的被动收入生态。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竞争优势：我们为何能赢？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E11D48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667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66800" y="3683000"/>
            <a:ext cx="2768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全链路闭环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769">
            <a:off x="1066815" y="4438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11D4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66800" y="4699000"/>
            <a:ext cx="2768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 IP 分析到链上发布，我们打造了市场上唯一实现真正端到端自动化的解决方案，彻底打通内容生产的每一个环节。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2286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1700" y="2667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711700" y="3683000"/>
            <a:ext cx="2768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巨大的成本优势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5769">
            <a:off x="4711715" y="4438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11D4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711700" y="4699000"/>
            <a:ext cx="2768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通过AI驱动的自动化流程，将专业创作团队的人力与时间成本降低数个数量级，让高质量内容生产变得前所未有的经济高效。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51800" y="2286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56600" y="26670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356600" y="3683000"/>
            <a:ext cx="2768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风格高度统一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5769">
            <a:off x="8356615" y="4438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11D4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356600" y="4699000"/>
            <a:ext cx="2768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基于GLM-5.1的深度语义理解和严格的质量控制模型，确保所有衍生内容都精准还原并忠于原始IP的核心灵魂与风格调性。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产品迭代路线图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E11D48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3429000" cy="508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2540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11D4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PHASE 01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952513" y="316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365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基础能力构建 (已完成)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318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成功实现核心文本、图像及3D内容的生成与上链功能，夯实底层技术基座，为后续功能扩展提供稳定支撑。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286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81500" y="2286000"/>
            <a:ext cx="3429000" cy="50800"/>
          </a:xfrm>
          <a:prstGeom prst="roundRect">
            <a:avLst>
              <a:gd name="adj" fmla="val 0"/>
            </a:avLst>
          </a:prstGeom>
          <a:solidFill>
            <a:srgbClr val="E11D4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572000" y="2540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11D4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PHASE 02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4572013" y="316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72000" y="3365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体验升级与生态扩展 (3-6个月)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72000" y="4318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接入视频生成模型支持动画创作，构建可视化Web界面降低门槛，并全面支持Solana、Aptos等非EVM公链生态。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01000" y="2286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001000" y="2286000"/>
            <a:ext cx="3429000" cy="50800"/>
          </a:xfrm>
          <a:prstGeom prst="roundRect">
            <a:avLst>
              <a:gd name="adj" fmla="val 0"/>
            </a:avLst>
          </a:prstGeom>
          <a:solidFill>
            <a:srgbClr val="E11D48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191500" y="2540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11D4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PHASE 03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8191513" y="316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91500" y="3365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平台化与创作者经济 (6-12个月)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191500" y="4318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打造完整的创作者经济平台，实现AI生成IP内容的分享与交易；引入Agent训练市场，赋能社区共创专属智能体。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969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E11D4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52500" y="6070600"/>
            <a:ext cx="1028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从核心功能夯实，到多链生态与多模态体验升级，最终构建开放、共享、共赢的AI内容创作与交易生态闭环。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IP Weave - 重新定义链上IP的未来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2413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16000" y="33020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自治的 AI 创作团队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1016000" y="4044315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无需人工干预的智能协作体，利用算法自动完成IP的策划、生成与迭代，实现内容生产的去中心化与自动化。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394200" y="2032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43942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48200" y="2413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4648200" y="33020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激活沉睡 IP 的引擎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4648200" y="398018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挖掘海量存量IP的潜在价值，通过AI赋能进行内容重构与场景适配，让经典IP在Web3时代焕发全新的商业生命力。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8026400" y="2032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11D4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80264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280400" y="24130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8280400" y="33020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通往无限衍生世界的桥梁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8280400" y="4044315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打破单一IP的叙事边界，构建开放的衍生生态，让用户参与到IP的多元宇宙中，创造出无限可能的故事与价值。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461000"/>
            <a:ext cx="10642600" cy="1016000"/>
          </a:xfrm>
          <a:prstGeom prst="roundRect">
            <a:avLst>
              <a:gd name="adj" fmla="val 0"/>
            </a:avLst>
          </a:prstGeom>
          <a:solidFill>
            <a:srgbClr val="E11D4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20" name="Connector 20"/>
          <p:cNvCxnSpPr/>
          <p:nvPr/>
        </p:nvCxnSpPr>
        <p:spPr>
          <a:xfrm rot="5357030">
            <a:off x="254000" y="5962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E11D4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1" name="AutoShape 21"/>
          <p:cNvSpPr/>
          <p:nvPr/>
        </p:nvSpPr>
        <p:spPr>
          <a:xfrm>
            <a:off x="1016000" y="558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我们正在用 AI Agent 技术，彻底改变 Web3 世界的内容生产方式，让每一个 IP 都能摆脱桎梏，在数字世界中绽放出应有的独特光彩。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93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31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8FAFC">
                    <a:alpha val="9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Q &amp; A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715000"/>
            <a:ext cx="12192000" cy="1143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5000" y="5943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413000" y="59055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项目 GitHub:</a:t>
            </a:r>
            <a:r>
              <a:rPr lang="en-US" sz="1400" b="1" i="0" u="none" strike="noStrike">
                <a:solidFill>
                  <a:srgbClr val="F8FAF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github.com/yanwenzhe519-ctrl/IP-Weave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31254">
            <a:off x="6413500" y="6216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8FAF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0" y="59436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493000" y="5905500"/>
            <a:ext cx="393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8FAFC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团队邮箱：yanwenzhe519@gmail.com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0,&quot;left&quot;:60,&quot;top&quot;:160,&quot;width&quot;:838}"/>
</p:tagLst>
</file>

<file path=ppt/tags/tag2.xml><?xml version="1.0" encoding="utf-8"?>
<p:tagLst xmlns:p="http://schemas.openxmlformats.org/presentationml/2006/main">
  <p:tag name="KSO_WM_DIAGRAM_VIRTUALLY_FRAME" val="{&quot;height&quot;:250,&quot;left&quot;:60,&quot;top&quot;:160,&quot;width&quot;:838}"/>
</p:tagLst>
</file>

<file path=ppt/tags/tag3.xml><?xml version="1.0" encoding="utf-8"?>
<p:tagLst xmlns:p="http://schemas.openxmlformats.org/presentationml/2006/main">
  <p:tag name="KSO_WM_DIAGRAM_VIRTUALLY_FRAME" val="{&quot;height&quot;:250,&quot;left&quot;:60,&quot;top&quot;:160,&quot;width&quot;:838}"/>
</p:tagLst>
</file>

<file path=ppt/tags/tag4.xml><?xml version="1.0" encoding="utf-8"?>
<p:tagLst xmlns:p="http://schemas.openxmlformats.org/presentationml/2006/main">
  <p:tag name="KSO_WM_DIAGRAM_VIRTUALLY_FRAME" val="{&quot;height&quot;:250,&quot;left&quot;:60,&quot;top&quot;:160,&quot;width&quot;:838}"/>
</p:tagLst>
</file>

<file path=ppt/tags/tag5.xml><?xml version="1.0" encoding="utf-8"?>
<p:tagLst xmlns:p="http://schemas.openxmlformats.org/presentationml/2006/main">
  <p:tag name="KSO_WM_DIAGRAM_VIRTUALLY_FRAME" val="{&quot;height&quot;:250,&quot;left&quot;:60,&quot;top&quot;:160,&quot;width&quot;:838}"/>
</p:tagLst>
</file>

<file path=ppt/tags/tag6.xml><?xml version="1.0" encoding="utf-8"?>
<p:tagLst xmlns:p="http://schemas.openxmlformats.org/presentationml/2006/main">
  <p:tag name="KSO_WM_DIAGRAM_VIRTUALLY_FRAME" val="{&quot;height&quot;:250,&quot;left&quot;:60,&quot;top&quot;:160,&quot;width&quot;:838}"/>
</p:tagLst>
</file>

<file path=ppt/tags/tag7.xml><?xml version="1.0" encoding="utf-8"?>
<p:tagLst xmlns:p="http://schemas.openxmlformats.org/presentationml/2006/main">
  <p:tag name="KSO_WM_DIAGRAM_VIRTUALLY_FRAME" val="{&quot;height&quot;:250,&quot;left&quot;:60,&quot;top&quot;:160,&quot;width&quot;:838}"/>
</p:tagLst>
</file>

<file path=ppt/tags/tag8.xml><?xml version="1.0" encoding="utf-8"?>
<p:tagLst xmlns:p="http://schemas.openxmlformats.org/presentationml/2006/main">
  <p:tag name="KSO_WM_DIAGRAM_VIRTUALLY_FRAME" val="{&quot;height&quot;:250,&quot;left&quot;:60,&quot;top&quot;:160,&quot;width&quot;:838}"/>
</p:tagLst>
</file>

<file path=ppt/tags/tag9.xml><?xml version="1.0" encoding="utf-8"?>
<p:tagLst xmlns:p="http://schemas.openxmlformats.org/presentationml/2006/main">
  <p:tag name="KSO_WM_DIAGRAM_VIRTUALLY_FRAME" val="{&quot;height&quot;:250,&quot;left&quot;:60,&quot;top&quot;:160,&quot;width&quot;:838}"/>
</p:tagLst>
</file>

<file path=ppt/tags/tag10.xml><?xml version="1.0" encoding="utf-8"?>
<p:tagLst xmlns:p="http://schemas.openxmlformats.org/presentationml/2006/main">
  <p:tag name="KSO_WM_DIAGRAM_VIRTUALLY_FRAME" val="{&quot;height&quot;:250,&quot;left&quot;:60,&quot;top&quot;:160,&quot;width&quot;:838}"/>
</p:tagLst>
</file>

<file path=ppt/tags/tag11.xml><?xml version="1.0" encoding="utf-8"?>
<p:tagLst xmlns:p="http://schemas.openxmlformats.org/presentationml/2006/main">
  <p:tag name="KSO_WM_DIAGRAM_VIRTUALLY_FRAME" val="{&quot;height&quot;:250,&quot;left&quot;:60,&quot;top&quot;:160,&quot;width&quot;:838}"/>
</p:tagLst>
</file>

<file path=ppt/tags/tag12.xml><?xml version="1.0" encoding="utf-8"?>
<p:tagLst xmlns:p="http://schemas.openxmlformats.org/presentationml/2006/main">
  <p:tag name="KSO_WM_DIAGRAM_VIRTUALLY_FRAME" val="{&quot;height&quot;:250,&quot;left&quot;:60,&quot;top&quot;:160,&quot;width&quot;:838}"/>
</p:tagLst>
</file>

<file path=ppt/tags/tag13.xml><?xml version="1.0" encoding="utf-8"?>
<p:tagLst xmlns:p="http://schemas.openxmlformats.org/presentationml/2006/main">
  <p:tag name="KSO_WM_DIAGRAM_VIRTUALLY_FRAME" val="{&quot;height&quot;:250,&quot;left&quot;:60,&quot;top&quot;:160,&quot;width&quot;:838}"/>
</p:tagLst>
</file>

<file path=ppt/tags/tag14.xml><?xml version="1.0" encoding="utf-8"?>
<p:tagLst xmlns:p="http://schemas.openxmlformats.org/presentationml/2006/main">
  <p:tag name="KSO_WM_DIAGRAM_VIRTUALLY_FRAME" val="{&quot;height&quot;:250,&quot;left&quot;:60,&quot;top&quot;:160,&quot;width&quot;:838}"/>
</p:tagLst>
</file>

<file path=ppt/tags/tag15.xml><?xml version="1.0" encoding="utf-8"?>
<p:tagLst xmlns:p="http://schemas.openxmlformats.org/presentationml/2006/main">
  <p:tag name="KSO_WM_DIAGRAM_VIRTUALLY_FRAME" val="{&quot;height&quot;:250,&quot;left&quot;:60,&quot;top&quot;:160,&quot;width&quot;:838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4201</Words>
  <Application>WPS 演示</Application>
  <PresentationFormat/>
  <Paragraphs>272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Arial</vt:lpstr>
      <vt:lpstr>Poppins</vt:lpstr>
      <vt:lpstr>Segoe Print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闫文哲</cp:lastModifiedBy>
  <cp:revision>1</cp:revision>
  <dcterms:created xsi:type="dcterms:W3CDTF">2026-06-14T04:37:02Z</dcterms:created>
  <dcterms:modified xsi:type="dcterms:W3CDTF">2026-06-14T04:37:02Z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{"Label":"1","ContentProducer":"001191110102MACQD9K64010000","ProduceID":"7651104960671747307","ReservedCode1":"","ContentPropagator":"","PropagateID":"","ReservedCode2":""}</vt:lpwstr>
  </property>
  <property fmtid="{D5CDD505-2E9C-101B-9397-08002B2CF9AE}" pid="3" name="ICV">
    <vt:lpwstr>54761DD5F04E4437BC89EAC410C384F2_13</vt:lpwstr>
  </property>
  <property fmtid="{D5CDD505-2E9C-101B-9397-08002B2CF9AE}" pid="4" name="KSOProductBuildVer">
    <vt:lpwstr>2052-12.1.0.23542</vt:lpwstr>
  </property>
</Properties>
</file>